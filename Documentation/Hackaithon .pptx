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B0502030000000004"/>
      <p:regular r:id="rId14"/>
    </p:embeddedFont>
    <p:embeddedFont>
      <p:font typeface="Inter Bold" charset="1" panose="020B0802030000000004"/>
      <p:regular r:id="rId15"/>
    </p:embeddedFont>
    <p:embeddedFont>
      <p:font typeface="Inter Medium" charset="1" panose="02000503000000020004"/>
      <p:regular r:id="rId16"/>
    </p:embeddedFont>
    <p:embeddedFont>
      <p:font typeface="Inter Semi-Bold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6.png" Type="http://schemas.openxmlformats.org/officeDocument/2006/relationships/image"/><Relationship Id="rId20" Target="../media/image34.png" Type="http://schemas.openxmlformats.org/officeDocument/2006/relationships/image"/><Relationship Id="rId21" Target="../media/image35.png" Type="http://schemas.openxmlformats.org/officeDocument/2006/relationships/image"/><Relationship Id="rId22" Target="../media/image3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63700" y="1066800"/>
            <a:ext cx="3924300" cy="4505325"/>
          </a:xfrm>
          <a:custGeom>
            <a:avLst/>
            <a:gdLst/>
            <a:ahLst/>
            <a:cxnLst/>
            <a:rect r="r" b="b" t="t" l="l"/>
            <a:pathLst>
              <a:path h="4505325" w="3924300">
                <a:moveTo>
                  <a:pt x="0" y="0"/>
                </a:moveTo>
                <a:lnTo>
                  <a:pt x="3924300" y="0"/>
                </a:lnTo>
                <a:lnTo>
                  <a:pt x="39243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0925" y="638175"/>
            <a:ext cx="10887075" cy="9648825"/>
          </a:xfrm>
          <a:custGeom>
            <a:avLst/>
            <a:gdLst/>
            <a:ahLst/>
            <a:cxnLst/>
            <a:rect r="r" b="b" t="t" l="l"/>
            <a:pathLst>
              <a:path h="9648825" w="10887075">
                <a:moveTo>
                  <a:pt x="0" y="0"/>
                </a:moveTo>
                <a:lnTo>
                  <a:pt x="10887075" y="0"/>
                </a:lnTo>
                <a:lnTo>
                  <a:pt x="10887075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4775" y="8143875"/>
            <a:ext cx="5019675" cy="2143125"/>
          </a:xfrm>
          <a:custGeom>
            <a:avLst/>
            <a:gdLst/>
            <a:ahLst/>
            <a:cxnLst/>
            <a:rect r="r" b="b" t="t" l="l"/>
            <a:pathLst>
              <a:path h="2143125" w="5019675">
                <a:moveTo>
                  <a:pt x="0" y="0"/>
                </a:moveTo>
                <a:lnTo>
                  <a:pt x="5019675" y="0"/>
                </a:lnTo>
                <a:lnTo>
                  <a:pt x="5019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86775" y="9001125"/>
            <a:ext cx="5448300" cy="1285875"/>
          </a:xfrm>
          <a:custGeom>
            <a:avLst/>
            <a:gdLst/>
            <a:ahLst/>
            <a:cxnLst/>
            <a:rect r="r" b="b" t="t" l="l"/>
            <a:pathLst>
              <a:path h="1285875" w="5448300">
                <a:moveTo>
                  <a:pt x="0" y="0"/>
                </a:moveTo>
                <a:lnTo>
                  <a:pt x="5448300" y="0"/>
                </a:lnTo>
                <a:lnTo>
                  <a:pt x="5448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8925" y="9210675"/>
            <a:ext cx="1314450" cy="866775"/>
          </a:xfrm>
          <a:custGeom>
            <a:avLst/>
            <a:gdLst/>
            <a:ahLst/>
            <a:cxnLst/>
            <a:rect r="r" b="b" t="t" l="l"/>
            <a:pathLst>
              <a:path h="866775" w="1314450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4944" y="5762437"/>
            <a:ext cx="6693408" cy="161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6"/>
              </a:lnSpc>
            </a:pPr>
            <a:r>
              <a:rPr lang="en-US" sz="30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3090" b="true">
                <a:solidFill>
                  <a:srgbClr val="008F8D"/>
                </a:solidFill>
                <a:latin typeface="Inter Bold"/>
                <a:ea typeface="Inter Bold"/>
                <a:cs typeface="Inter Bold"/>
                <a:sym typeface="Inter Bold"/>
              </a:rPr>
              <a:t>Python Application</a:t>
            </a:r>
            <a:r>
              <a:rPr lang="en-US" sz="30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that suggest study material to student according to their weak topic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7924800"/>
            <a:ext cx="3495675" cy="866775"/>
          </a:xfrm>
          <a:custGeom>
            <a:avLst/>
            <a:gdLst/>
            <a:ahLst/>
            <a:cxnLst/>
            <a:rect r="r" b="b" t="t" l="l"/>
            <a:pathLst>
              <a:path h="866775" w="3495675">
                <a:moveTo>
                  <a:pt x="0" y="0"/>
                </a:moveTo>
                <a:lnTo>
                  <a:pt x="3495675" y="0"/>
                </a:lnTo>
                <a:lnTo>
                  <a:pt x="3495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7552" y="8114824"/>
            <a:ext cx="277977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b="true" sz="281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BY TEAM NO 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44" y="1233337"/>
            <a:ext cx="9253728" cy="432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6"/>
              </a:lnSpc>
            </a:pPr>
            <a:r>
              <a:rPr lang="en-US" sz="8456" spc="-1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Learn4All:</a:t>
            </a:r>
          </a:p>
          <a:p>
            <a:pPr algn="l">
              <a:lnSpc>
                <a:spcPts val="8456"/>
              </a:lnSpc>
            </a:pPr>
            <a:r>
              <a:rPr lang="en-US" sz="8456" spc="-169" b="true">
                <a:solidFill>
                  <a:srgbClr val="008F8D"/>
                </a:solidFill>
                <a:latin typeface="Inter Bold"/>
                <a:ea typeface="Inter Bold"/>
                <a:cs typeface="Inter Bold"/>
                <a:sym typeface="Inter Bold"/>
              </a:rPr>
              <a:t>Inclusive Learning</a:t>
            </a:r>
            <a:r>
              <a:rPr lang="en-US" sz="8456" spc="-1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Progress &amp; Resource Planner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2775" y="0"/>
            <a:ext cx="11325225" cy="10287000"/>
          </a:xfrm>
          <a:custGeom>
            <a:avLst/>
            <a:gdLst/>
            <a:ahLst/>
            <a:cxnLst/>
            <a:rect r="r" b="b" t="t" l="l"/>
            <a:pathLst>
              <a:path h="10287000" w="11325225">
                <a:moveTo>
                  <a:pt x="0" y="0"/>
                </a:moveTo>
                <a:lnTo>
                  <a:pt x="11325225" y="0"/>
                </a:lnTo>
                <a:lnTo>
                  <a:pt x="11325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4944" y="899943"/>
            <a:ext cx="9162288" cy="255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8"/>
              </a:lnSpc>
            </a:pPr>
            <a:r>
              <a:rPr lang="en-US" sz="9116" spc="-18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Challenge &amp; </a:t>
            </a:r>
            <a:r>
              <a:rPr lang="en-US" sz="9116" spc="-182" b="true">
                <a:solidFill>
                  <a:srgbClr val="007978"/>
                </a:solidFill>
                <a:latin typeface="Inter Bold"/>
                <a:ea typeface="Inter Bold"/>
                <a:cs typeface="Inter Bold"/>
                <a:sym typeface="Inter Bold"/>
              </a:rPr>
              <a:t>SDG</a:t>
            </a:r>
            <a:r>
              <a:rPr lang="en-US" sz="9116" spc="-18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Relevance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916073"/>
            <a:ext cx="7370064" cy="13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sz="26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Many students struggle with </a:t>
            </a:r>
            <a:r>
              <a:rPr lang="en-US" sz="2667" b="true">
                <a:solidFill>
                  <a:srgbClr val="007978"/>
                </a:solidFill>
                <a:latin typeface="Inter Medium"/>
                <a:ea typeface="Inter Medium"/>
                <a:cs typeface="Inter Medium"/>
                <a:sym typeface="Inter Medium"/>
              </a:rPr>
              <a:t>learning gaps</a:t>
            </a:r>
            <a:r>
              <a:rPr lang="en-US" sz="26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and lack access to </a:t>
            </a:r>
            <a:r>
              <a:rPr lang="en-US" sz="2667" b="true">
                <a:solidFill>
                  <a:srgbClr val="007978"/>
                </a:solidFill>
                <a:latin typeface="Inter Medium"/>
                <a:ea typeface="Inter Medium"/>
                <a:cs typeface="Inter Medium"/>
                <a:sym typeface="Inter Medium"/>
              </a:rPr>
              <a:t>personalized study support</a:t>
            </a:r>
            <a:r>
              <a:rPr lang="en-US" sz="2667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, deepening educational inequality.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5781675"/>
            <a:ext cx="3495675" cy="4076700"/>
          </a:xfrm>
          <a:custGeom>
            <a:avLst/>
            <a:gdLst/>
            <a:ahLst/>
            <a:cxnLst/>
            <a:rect r="r" b="b" t="t" l="l"/>
            <a:pathLst>
              <a:path h="4076700" w="3495675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552" y="6071806"/>
            <a:ext cx="117043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SDG 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6429375"/>
            <a:ext cx="2838450" cy="428625"/>
          </a:xfrm>
          <a:custGeom>
            <a:avLst/>
            <a:gdLst/>
            <a:ahLst/>
            <a:cxnLst/>
            <a:rect r="r" b="b" t="t" l="l"/>
            <a:pathLst>
              <a:path h="428625" w="2838450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552" y="6917055"/>
            <a:ext cx="219456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b="true" sz="2925" spc="-5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QUALITY EDUCATION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552" y="7945847"/>
            <a:ext cx="2523744" cy="155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489" spc="-4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Ensure inclusive and equitable quality education for all.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33850" y="5781675"/>
            <a:ext cx="3705225" cy="4076700"/>
          </a:xfrm>
          <a:custGeom>
            <a:avLst/>
            <a:gdLst/>
            <a:ahLst/>
            <a:cxnLst/>
            <a:rect r="r" b="b" t="t" l="l"/>
            <a:pathLst>
              <a:path h="4076700" w="3705225">
                <a:moveTo>
                  <a:pt x="0" y="0"/>
                </a:moveTo>
                <a:lnTo>
                  <a:pt x="3705225" y="0"/>
                </a:lnTo>
                <a:lnTo>
                  <a:pt x="37052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17136" y="6071806"/>
            <a:ext cx="131673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5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SDG 10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352925" y="6429375"/>
            <a:ext cx="3057525" cy="428625"/>
          </a:xfrm>
          <a:custGeom>
            <a:avLst/>
            <a:gdLst/>
            <a:ahLst/>
            <a:cxnLst/>
            <a:rect r="r" b="b" t="t" l="l"/>
            <a:pathLst>
              <a:path h="428625" w="3057525">
                <a:moveTo>
                  <a:pt x="0" y="0"/>
                </a:moveTo>
                <a:lnTo>
                  <a:pt x="3057525" y="0"/>
                </a:lnTo>
                <a:lnTo>
                  <a:pt x="3057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17136" y="6907530"/>
            <a:ext cx="257860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b="true" sz="2962" spc="-5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REDUCED INEQUALITIES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17136" y="7945847"/>
            <a:ext cx="2761488" cy="155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489" spc="-4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Reduce disparities in educational resources and support.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38775" y="857250"/>
            <a:ext cx="11982450" cy="9429750"/>
          </a:xfrm>
          <a:custGeom>
            <a:avLst/>
            <a:gdLst/>
            <a:ahLst/>
            <a:cxnLst/>
            <a:rect r="r" b="b" t="t" l="l"/>
            <a:pathLst>
              <a:path h="9429750" w="11982450">
                <a:moveTo>
                  <a:pt x="0" y="0"/>
                </a:moveTo>
                <a:lnTo>
                  <a:pt x="11982450" y="0"/>
                </a:lnTo>
                <a:lnTo>
                  <a:pt x="11982450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882669"/>
            <a:ext cx="6839712" cy="333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796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Our Solution – </a:t>
            </a:r>
            <a:r>
              <a:rPr lang="en-US" sz="7967" b="true">
                <a:solidFill>
                  <a:srgbClr val="63CFCF"/>
                </a:solidFill>
                <a:latin typeface="Inter Bold"/>
                <a:ea typeface="Inter Bold"/>
                <a:cs typeface="Inter Bold"/>
                <a:sym typeface="Inter Bold"/>
              </a:rPr>
              <a:t>Learn4All</a:t>
            </a:r>
            <a:r>
              <a:rPr lang="en-US" sz="796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Application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4837378"/>
            <a:ext cx="6510528" cy="4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5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Python-powered platform for </a:t>
            </a:r>
            <a:r>
              <a:rPr lang="en-US" sz="2535">
                <a:solidFill>
                  <a:srgbClr val="63CFCF"/>
                </a:solidFill>
                <a:latin typeface="Inter"/>
                <a:ea typeface="Inter"/>
                <a:cs typeface="Inter"/>
                <a:sym typeface="Inter"/>
              </a:rPr>
              <a:t>Classes 1–10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5521011"/>
            <a:ext cx="6144768" cy="43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4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 quizzes and assess your knowledge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6231618"/>
            <a:ext cx="5559552" cy="87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6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evaluates performance and spots weak topics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7373475"/>
            <a:ext cx="6510528" cy="87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667">
                <a:solidFill>
                  <a:srgbClr val="63CFCF"/>
                </a:solidFill>
                <a:latin typeface="Inter"/>
                <a:ea typeface="Inter"/>
                <a:cs typeface="Inter"/>
                <a:sym typeface="Inter"/>
              </a:rPr>
              <a:t>Personalized study path</a:t>
            </a:r>
            <a:r>
              <a:rPr lang="en-US" sz="26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with videos, notes, quizzes and practice tasks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8546193"/>
            <a:ext cx="5559552" cy="87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6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Topic-specific recommendations for </a:t>
            </a:r>
            <a:r>
              <a:rPr lang="en-US" sz="2667">
                <a:solidFill>
                  <a:srgbClr val="63CFCF"/>
                </a:solidFill>
                <a:latin typeface="Inter"/>
                <a:ea typeface="Inter"/>
                <a:cs typeface="Inter"/>
                <a:sym typeface="Inter"/>
              </a:rPr>
              <a:t>inclusive and focused learning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488142"/>
            <a:ext cx="9619488" cy="215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sz="7697" spc="-23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 &amp;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2734044"/>
            <a:ext cx="8851392" cy="85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489" spc="-7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 modular Python application that evaluates, analyzes, and guides every learner toward </a:t>
            </a:r>
            <a:r>
              <a:rPr lang="en-US" sz="2489" spc="-74" b="true">
                <a:solidFill>
                  <a:srgbClr val="4CBEC0"/>
                </a:solidFill>
                <a:latin typeface="Inter Medium"/>
                <a:ea typeface="Inter Medium"/>
                <a:cs typeface="Inter Medium"/>
                <a:sym typeface="Inter Medium"/>
              </a:rPr>
              <a:t>stronger understanding.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71700" y="3857625"/>
            <a:ext cx="13725525" cy="2143125"/>
          </a:xfrm>
          <a:custGeom>
            <a:avLst/>
            <a:gdLst/>
            <a:ahLst/>
            <a:cxnLst/>
            <a:rect r="r" b="b" t="t" l="l"/>
            <a:pathLst>
              <a:path h="2143125" w="13725525">
                <a:moveTo>
                  <a:pt x="0" y="0"/>
                </a:moveTo>
                <a:lnTo>
                  <a:pt x="13725525" y="0"/>
                </a:lnTo>
                <a:lnTo>
                  <a:pt x="13725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00416" y="4161842"/>
            <a:ext cx="2487168" cy="4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b="true" sz="2489" spc="-74">
                <a:solidFill>
                  <a:srgbClr val="4CBEC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CORE MODULES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28925" y="4495800"/>
            <a:ext cx="3057525" cy="1295400"/>
          </a:xfrm>
          <a:custGeom>
            <a:avLst/>
            <a:gdLst/>
            <a:ahLst/>
            <a:cxnLst/>
            <a:rect r="r" b="b" t="t" l="l"/>
            <a:pathLst>
              <a:path h="1295400" w="3057525">
                <a:moveTo>
                  <a:pt x="0" y="0"/>
                </a:moveTo>
                <a:lnTo>
                  <a:pt x="3057525" y="0"/>
                </a:lnTo>
                <a:lnTo>
                  <a:pt x="3057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21024" y="4974515"/>
            <a:ext cx="1481328" cy="4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b="true" sz="2489" spc="-7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76925" y="4495800"/>
            <a:ext cx="3057525" cy="1295400"/>
          </a:xfrm>
          <a:custGeom>
            <a:avLst/>
            <a:gdLst/>
            <a:ahLst/>
            <a:cxnLst/>
            <a:rect r="r" b="b" t="t" l="l"/>
            <a:pathLst>
              <a:path h="1295400" w="3057525">
                <a:moveTo>
                  <a:pt x="0" y="0"/>
                </a:moveTo>
                <a:lnTo>
                  <a:pt x="3057525" y="0"/>
                </a:lnTo>
                <a:lnTo>
                  <a:pt x="3057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84848" y="4974515"/>
            <a:ext cx="1426464" cy="4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b="true" sz="2489" spc="-7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SUBJECT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4495800"/>
            <a:ext cx="3048000" cy="1295400"/>
          </a:xfrm>
          <a:custGeom>
            <a:avLst/>
            <a:gdLst/>
            <a:ahLst/>
            <a:cxnLst/>
            <a:rect r="r" b="b" t="t" l="l"/>
            <a:pathLst>
              <a:path h="1295400" w="3048000">
                <a:moveTo>
                  <a:pt x="0" y="0"/>
                </a:moveTo>
                <a:lnTo>
                  <a:pt x="3048000" y="0"/>
                </a:lnTo>
                <a:lnTo>
                  <a:pt x="30480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82912" y="4974515"/>
            <a:ext cx="2103120" cy="4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b="true" sz="2489" spc="-7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ASSESSMENT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192000" y="4495800"/>
            <a:ext cx="3048000" cy="1295400"/>
          </a:xfrm>
          <a:custGeom>
            <a:avLst/>
            <a:gdLst/>
            <a:ahLst/>
            <a:cxnLst/>
            <a:rect r="r" b="b" t="t" l="l"/>
            <a:pathLst>
              <a:path h="1295400" w="3048000">
                <a:moveTo>
                  <a:pt x="0" y="0"/>
                </a:moveTo>
                <a:lnTo>
                  <a:pt x="3048000" y="0"/>
                </a:lnTo>
                <a:lnTo>
                  <a:pt x="30480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11328" y="4974515"/>
            <a:ext cx="1700784" cy="4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b="true" sz="2489" spc="-7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RESOURCE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952625" y="62103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38775" y="62103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924925" y="5781675"/>
            <a:ext cx="219075" cy="1076325"/>
          </a:xfrm>
          <a:custGeom>
            <a:avLst/>
            <a:gdLst/>
            <a:ahLst/>
            <a:cxnLst/>
            <a:rect r="r" b="b" t="t" l="l"/>
            <a:pathLst>
              <a:path h="1076325" w="219075">
                <a:moveTo>
                  <a:pt x="0" y="0"/>
                </a:moveTo>
                <a:lnTo>
                  <a:pt x="219075" y="0"/>
                </a:lnTo>
                <a:lnTo>
                  <a:pt x="2190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01550" y="62103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87700" y="62103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7700" y="6638925"/>
            <a:ext cx="3057525" cy="1933575"/>
          </a:xfrm>
          <a:custGeom>
            <a:avLst/>
            <a:gdLst/>
            <a:ahLst/>
            <a:cxnLst/>
            <a:rect r="r" b="b" t="t" l="l"/>
            <a:pathLst>
              <a:path h="1933575" w="305752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76625" y="74961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14775" y="6638925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407408" y="7219608"/>
            <a:ext cx="2359152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b="true" sz="2298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PERFORMANCE EVALUATION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962775" y="74961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00925" y="6638925"/>
            <a:ext cx="3267075" cy="1933575"/>
          </a:xfrm>
          <a:custGeom>
            <a:avLst/>
            <a:gdLst/>
            <a:ahLst/>
            <a:cxnLst/>
            <a:rect r="r" b="b" t="t" l="l"/>
            <a:pathLst>
              <a:path h="1933575" w="3267075">
                <a:moveTo>
                  <a:pt x="0" y="0"/>
                </a:moveTo>
                <a:lnTo>
                  <a:pt x="3267075" y="0"/>
                </a:lnTo>
                <a:lnTo>
                  <a:pt x="3267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882128" y="7219608"/>
            <a:ext cx="2359152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b="true" sz="2298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WEAK TOPIC IDENTIFICATION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448925" y="74961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77550" y="6638925"/>
            <a:ext cx="3276600" cy="1933575"/>
          </a:xfrm>
          <a:custGeom>
            <a:avLst/>
            <a:gdLst/>
            <a:ahLst/>
            <a:cxnLst/>
            <a:rect r="r" b="b" t="t" l="l"/>
            <a:pathLst>
              <a:path h="1933575" w="3276600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192256" y="7219608"/>
            <a:ext cx="2779776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b="true" sz="2298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RESOURCE RECOMMENDATION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925550" y="749617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82775" y="6638925"/>
            <a:ext cx="3057525" cy="1933575"/>
          </a:xfrm>
          <a:custGeom>
            <a:avLst/>
            <a:gdLst/>
            <a:ahLst/>
            <a:cxnLst/>
            <a:rect r="r" b="b" t="t" l="l"/>
            <a:pathLst>
              <a:path h="1933575" w="305752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142464" y="7219608"/>
            <a:ext cx="1920240" cy="7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b="true" sz="2298" spc="-68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REPORT GENERATION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171700" y="8572500"/>
            <a:ext cx="13725525" cy="1504950"/>
          </a:xfrm>
          <a:custGeom>
            <a:avLst/>
            <a:gdLst/>
            <a:ahLst/>
            <a:cxnLst/>
            <a:rect r="r" b="b" t="t" l="l"/>
            <a:pathLst>
              <a:path h="1504950" w="13725525">
                <a:moveTo>
                  <a:pt x="0" y="0"/>
                </a:moveTo>
                <a:lnTo>
                  <a:pt x="13725525" y="0"/>
                </a:lnTo>
                <a:lnTo>
                  <a:pt x="13725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961888" y="9011769"/>
            <a:ext cx="6364224" cy="41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2428" spc="-7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 flows across modules to deliver insights,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321808" y="9423249"/>
            <a:ext cx="7644384" cy="41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2428" spc="-72">
                <a:solidFill>
                  <a:srgbClr val="4CBEC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personalized guidance</a:t>
            </a:r>
            <a:r>
              <a:rPr lang="en-US" b="true" sz="2428" spc="-72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, and measurable improvement.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37360" y="7366998"/>
            <a:ext cx="731520" cy="42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b="true" sz="2458" spc="-73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QUIZ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10775" y="1066800"/>
            <a:ext cx="8277225" cy="9220200"/>
          </a:xfrm>
          <a:custGeom>
            <a:avLst/>
            <a:gdLst/>
            <a:ahLst/>
            <a:cxnLst/>
            <a:rect r="r" b="b" t="t" l="l"/>
            <a:pathLst>
              <a:path h="9220200" w="8277225">
                <a:moveTo>
                  <a:pt x="0" y="0"/>
                </a:moveTo>
                <a:lnTo>
                  <a:pt x="8277225" y="0"/>
                </a:lnTo>
                <a:lnTo>
                  <a:pt x="827722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625" y="1066800"/>
            <a:ext cx="8715375" cy="9220200"/>
          </a:xfrm>
          <a:custGeom>
            <a:avLst/>
            <a:gdLst/>
            <a:ahLst/>
            <a:cxnLst/>
            <a:rect r="r" b="b" t="t" l="l"/>
            <a:pathLst>
              <a:path h="9220200" w="8715375">
                <a:moveTo>
                  <a:pt x="0" y="0"/>
                </a:moveTo>
                <a:lnTo>
                  <a:pt x="8715375" y="0"/>
                </a:lnTo>
                <a:lnTo>
                  <a:pt x="871537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8368" y="734907"/>
            <a:ext cx="7680960" cy="11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3"/>
              </a:lnSpc>
            </a:pPr>
            <a:r>
              <a:rPr lang="en-US" sz="8463" spc="-25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Features of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368" y="1871347"/>
            <a:ext cx="5596128" cy="1262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4"/>
              </a:lnSpc>
            </a:pPr>
            <a:r>
              <a:rPr lang="en-US" sz="9564" spc="-286" b="true">
                <a:solidFill>
                  <a:srgbClr val="0F868A"/>
                </a:solidFill>
                <a:latin typeface="Inter Bold"/>
                <a:ea typeface="Inter Bold"/>
                <a:cs typeface="Inter Bold"/>
                <a:sym typeface="Inter Bold"/>
              </a:rPr>
              <a:t>Learn4All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209925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7280" y="3607234"/>
            <a:ext cx="694944" cy="66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5"/>
              </a:lnSpc>
            </a:pPr>
            <a:r>
              <a:rPr lang="en-US" b="true" sz="4955" spc="-14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71700" y="3209925"/>
            <a:ext cx="7410450" cy="1295400"/>
          </a:xfrm>
          <a:custGeom>
            <a:avLst/>
            <a:gdLst/>
            <a:ahLst/>
            <a:cxnLst/>
            <a:rect r="r" b="b" t="t" l="l"/>
            <a:pathLst>
              <a:path h="1295400" w="7410450">
                <a:moveTo>
                  <a:pt x="0" y="0"/>
                </a:moveTo>
                <a:lnTo>
                  <a:pt x="7410450" y="0"/>
                </a:lnTo>
                <a:lnTo>
                  <a:pt x="7410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24912" y="3754565"/>
            <a:ext cx="54132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428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Multi-class support for Classes 1-10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495800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7280" y="4904622"/>
            <a:ext cx="749808" cy="61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4679" spc="-14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71700" y="4495800"/>
            <a:ext cx="7410450" cy="1295400"/>
          </a:xfrm>
          <a:custGeom>
            <a:avLst/>
            <a:gdLst/>
            <a:ahLst/>
            <a:cxnLst/>
            <a:rect r="r" b="b" t="t" l="l"/>
            <a:pathLst>
              <a:path h="1295400" w="7410450">
                <a:moveTo>
                  <a:pt x="0" y="0"/>
                </a:moveTo>
                <a:lnTo>
                  <a:pt x="7410450" y="0"/>
                </a:lnTo>
                <a:lnTo>
                  <a:pt x="7410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24912" y="4735449"/>
            <a:ext cx="57058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77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Automatic performance calculation and progress tracking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5781675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7280" y="6176003"/>
            <a:ext cx="749808" cy="60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5"/>
              </a:lnSpc>
            </a:pPr>
            <a:r>
              <a:rPr lang="en-US" b="true" sz="4575" spc="-13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171700" y="5781675"/>
            <a:ext cx="7410450" cy="1295400"/>
          </a:xfrm>
          <a:custGeom>
            <a:avLst/>
            <a:gdLst/>
            <a:ahLst/>
            <a:cxnLst/>
            <a:rect r="r" b="b" t="t" l="l"/>
            <a:pathLst>
              <a:path h="1295400" w="7410450">
                <a:moveTo>
                  <a:pt x="0" y="0"/>
                </a:moveTo>
                <a:lnTo>
                  <a:pt x="7410450" y="0"/>
                </a:lnTo>
                <a:lnTo>
                  <a:pt x="7410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24912" y="6259830"/>
            <a:ext cx="665683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463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Identify strengths and weaknesses by topic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7700" y="7067550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97280" y="7458755"/>
            <a:ext cx="749808" cy="60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6"/>
              </a:lnSpc>
            </a:pPr>
            <a:r>
              <a:rPr lang="en-US" b="true" sz="4506" spc="-13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171700" y="7067550"/>
            <a:ext cx="7410450" cy="1295400"/>
          </a:xfrm>
          <a:custGeom>
            <a:avLst/>
            <a:gdLst/>
            <a:ahLst/>
            <a:cxnLst/>
            <a:rect r="r" b="b" t="t" l="l"/>
            <a:pathLst>
              <a:path h="1295400" w="7410450">
                <a:moveTo>
                  <a:pt x="0" y="0"/>
                </a:moveTo>
                <a:lnTo>
                  <a:pt x="7410450" y="0"/>
                </a:lnTo>
                <a:lnTo>
                  <a:pt x="7410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24912" y="7266051"/>
            <a:ext cx="565099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77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Personalized recommendations with multiple resource types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7700" y="8353425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97280" y="8706927"/>
            <a:ext cx="749808" cy="61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b="true" sz="4610" spc="-13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171700" y="8353425"/>
            <a:ext cx="7410450" cy="1295400"/>
          </a:xfrm>
          <a:custGeom>
            <a:avLst/>
            <a:gdLst/>
            <a:ahLst/>
            <a:cxnLst/>
            <a:rect r="r" b="b" t="t" l="l"/>
            <a:pathLst>
              <a:path h="1295400" w="7410450">
                <a:moveTo>
                  <a:pt x="0" y="0"/>
                </a:moveTo>
                <a:lnTo>
                  <a:pt x="7410450" y="0"/>
                </a:lnTo>
                <a:lnTo>
                  <a:pt x="7410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24912" y="8590026"/>
            <a:ext cx="552297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3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Generate individual learner reports and class-level summaries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1038416"/>
            <a:ext cx="7022592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9"/>
              </a:lnSpc>
            </a:pPr>
            <a:r>
              <a:rPr lang="en-US" sz="7174" spc="-1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Object-Oriented Programming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3222117"/>
            <a:ext cx="656539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9"/>
              </a:lnSpc>
            </a:pPr>
            <a:r>
              <a:rPr lang="en-US" sz="7174" spc="-143">
                <a:solidFill>
                  <a:srgbClr val="008F98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1285875"/>
            <a:ext cx="3267075" cy="3429000"/>
          </a:xfrm>
          <a:custGeom>
            <a:avLst/>
            <a:gdLst/>
            <a:ahLst/>
            <a:cxnLst/>
            <a:rect r="r" b="b" t="t" l="l"/>
            <a:pathLst>
              <a:path h="3429000" w="3267075">
                <a:moveTo>
                  <a:pt x="0" y="0"/>
                </a:moveTo>
                <a:lnTo>
                  <a:pt x="3267075" y="0"/>
                </a:lnTo>
                <a:lnTo>
                  <a:pt x="32670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09760" y="1681948"/>
            <a:ext cx="1188720" cy="41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Student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09760" y="2252377"/>
            <a:ext cx="640080" cy="89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name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grade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53550" y="3209925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09760" y="3538252"/>
            <a:ext cx="2578608" cy="89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take_quiz()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view_performance()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get recommendations()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63700" y="3000375"/>
            <a:ext cx="2838450" cy="3429000"/>
          </a:xfrm>
          <a:custGeom>
            <a:avLst/>
            <a:gdLst/>
            <a:ahLst/>
            <a:cxnLst/>
            <a:rect r="r" b="b" t="t" l="l"/>
            <a:pathLst>
              <a:path h="3429000" w="2838450">
                <a:moveTo>
                  <a:pt x="0" y="0"/>
                </a:moveTo>
                <a:lnTo>
                  <a:pt x="2838450" y="0"/>
                </a:lnTo>
                <a:lnTo>
                  <a:pt x="2838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685264" y="3441359"/>
            <a:ext cx="1719072" cy="3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5264" y="3966657"/>
            <a:ext cx="640080" cy="128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sz="18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</a:t>
            </a:r>
          </a:p>
          <a:p>
            <a:pPr algn="l">
              <a:lnSpc>
                <a:spcPts val="2569"/>
              </a:lnSpc>
            </a:pPr>
            <a:r>
              <a:rPr lang="en-US" sz="18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</a:t>
            </a:r>
          </a:p>
          <a:p>
            <a:pPr algn="l">
              <a:lnSpc>
                <a:spcPts val="2569"/>
              </a:lnSpc>
            </a:pPr>
            <a:r>
              <a:rPr lang="en-US" sz="18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score</a:t>
            </a:r>
          </a:p>
          <a:p>
            <a:pPr algn="l">
              <a:lnSpc>
                <a:spcPts val="2569"/>
              </a:lnSpc>
            </a:pPr>
            <a:r>
              <a:rPr lang="en-US" sz="18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582775" y="5353050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685264" y="5558162"/>
            <a:ext cx="1097280" cy="60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17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evaluate()</a:t>
            </a:r>
          </a:p>
          <a:p>
            <a:pPr algn="l">
              <a:lnSpc>
                <a:spcPts val="2429"/>
              </a:lnSpc>
            </a:pPr>
            <a:r>
              <a:rPr lang="en-US" sz="173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analyze()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400925" y="6210300"/>
            <a:ext cx="2619375" cy="3219450"/>
          </a:xfrm>
          <a:custGeom>
            <a:avLst/>
            <a:gdLst/>
            <a:ahLst/>
            <a:cxnLst/>
            <a:rect r="r" b="b" t="t" l="l"/>
            <a:pathLst>
              <a:path h="3219450" w="2619375">
                <a:moveTo>
                  <a:pt x="0" y="0"/>
                </a:moveTo>
                <a:lnTo>
                  <a:pt x="2619375" y="0"/>
                </a:lnTo>
                <a:lnTo>
                  <a:pt x="2619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17536" y="6617113"/>
            <a:ext cx="1097280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17536" y="7210711"/>
            <a:ext cx="1261872" cy="89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title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description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620000" y="8143875"/>
            <a:ext cx="2181225" cy="219075"/>
          </a:xfrm>
          <a:custGeom>
            <a:avLst/>
            <a:gdLst/>
            <a:ahLst/>
            <a:cxnLst/>
            <a:rect r="r" b="b" t="t" l="l"/>
            <a:pathLst>
              <a:path h="219075" w="218122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17536" y="8479250"/>
            <a:ext cx="1353312" cy="5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get_topics()</a:t>
            </a:r>
          </a:p>
          <a:p>
            <a:pPr algn="l">
              <a:lnSpc>
                <a:spcPts val="2467"/>
              </a:lnSpc>
            </a:pPr>
            <a:r>
              <a:rPr lang="en-US" sz="176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add_topic()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34775" y="6210300"/>
            <a:ext cx="2619375" cy="3219450"/>
          </a:xfrm>
          <a:custGeom>
            <a:avLst/>
            <a:gdLst/>
            <a:ahLst/>
            <a:cxnLst/>
            <a:rect r="r" b="b" t="t" l="l"/>
            <a:pathLst>
              <a:path h="3219450" w="2619375">
                <a:moveTo>
                  <a:pt x="0" y="0"/>
                </a:moveTo>
                <a:lnTo>
                  <a:pt x="2619375" y="0"/>
                </a:lnTo>
                <a:lnTo>
                  <a:pt x="2619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23776" y="6585895"/>
            <a:ext cx="1353312" cy="39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Resource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23776" y="7086725"/>
            <a:ext cx="640080" cy="116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</a:t>
            </a:r>
          </a:p>
          <a:p>
            <a:pPr algn="l">
              <a:lnSpc>
                <a:spcPts val="2365"/>
              </a:lnSpc>
            </a:pPr>
            <a:r>
              <a:rPr lang="en-US" sz="168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title</a:t>
            </a:r>
          </a:p>
          <a:p>
            <a:pPr algn="l">
              <a:lnSpc>
                <a:spcPts val="2365"/>
              </a:lnSpc>
            </a:pPr>
            <a:r>
              <a:rPr lang="en-US" sz="168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url</a:t>
            </a:r>
          </a:p>
          <a:p>
            <a:pPr algn="l">
              <a:lnSpc>
                <a:spcPts val="2365"/>
              </a:lnSpc>
            </a:pPr>
            <a:r>
              <a:rPr lang="en-US" sz="1689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53850" y="8353425"/>
            <a:ext cx="2181225" cy="219075"/>
          </a:xfrm>
          <a:custGeom>
            <a:avLst/>
            <a:gdLst/>
            <a:ahLst/>
            <a:cxnLst/>
            <a:rect r="r" b="b" t="t" l="l"/>
            <a:pathLst>
              <a:path h="219075" w="218122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923776" y="8582406"/>
            <a:ext cx="1353312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get_details()</a:t>
            </a:r>
          </a:p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preview()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92000" y="2352675"/>
            <a:ext cx="3705225" cy="866775"/>
          </a:xfrm>
          <a:custGeom>
            <a:avLst/>
            <a:gdLst/>
            <a:ahLst/>
            <a:cxnLst/>
            <a:rect r="r" b="b" t="t" l="l"/>
            <a:pathLst>
              <a:path h="866775" w="3705225">
                <a:moveTo>
                  <a:pt x="0" y="0"/>
                </a:moveTo>
                <a:lnTo>
                  <a:pt x="3705225" y="0"/>
                </a:lnTo>
                <a:lnTo>
                  <a:pt x="3705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86775" y="4714875"/>
            <a:ext cx="4581525" cy="1714500"/>
          </a:xfrm>
          <a:custGeom>
            <a:avLst/>
            <a:gdLst/>
            <a:ahLst/>
            <a:cxnLst/>
            <a:rect r="r" b="b" t="t" l="l"/>
            <a:pathLst>
              <a:path h="1714500" w="4581525">
                <a:moveTo>
                  <a:pt x="0" y="0"/>
                </a:moveTo>
                <a:lnTo>
                  <a:pt x="4581525" y="0"/>
                </a:lnTo>
                <a:lnTo>
                  <a:pt x="4581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91700" y="7496175"/>
            <a:ext cx="1971675" cy="647700"/>
          </a:xfrm>
          <a:custGeom>
            <a:avLst/>
            <a:gdLst/>
            <a:ahLst/>
            <a:cxnLst/>
            <a:rect r="r" b="b" t="t" l="l"/>
            <a:pathLst>
              <a:path h="647700" w="1971675">
                <a:moveTo>
                  <a:pt x="0" y="0"/>
                </a:moveTo>
                <a:lnTo>
                  <a:pt x="1971675" y="0"/>
                </a:lnTo>
                <a:lnTo>
                  <a:pt x="1971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31520" y="4832890"/>
            <a:ext cx="5138928" cy="439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Core classes model the key entities in the application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Encapsulated data and methods ensure modularity and scalability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Inheritance and composition build flexible relationships</a:t>
            </a:r>
          </a:p>
          <a:p>
            <a:pPr algn="l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Clean structure that’s easy</a:t>
            </a:r>
          </a:p>
          <a:p>
            <a:pPr algn="l">
              <a:lnSpc>
                <a:spcPts val="3202"/>
              </a:lnSpc>
            </a:pPr>
            <a:r>
              <a:rPr lang="en-US" sz="2287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 extend and maintain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5353050"/>
            <a:ext cx="6105525" cy="219075"/>
          </a:xfrm>
          <a:custGeom>
            <a:avLst/>
            <a:gdLst/>
            <a:ahLst/>
            <a:cxnLst/>
            <a:rect r="r" b="b" t="t" l="l"/>
            <a:pathLst>
              <a:path h="219075" w="6105525">
                <a:moveTo>
                  <a:pt x="0" y="0"/>
                </a:moveTo>
                <a:lnTo>
                  <a:pt x="6105525" y="0"/>
                </a:lnTo>
                <a:lnTo>
                  <a:pt x="6105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11427" y="2640084"/>
            <a:ext cx="10523679" cy="5597880"/>
          </a:xfrm>
          <a:custGeom>
            <a:avLst/>
            <a:gdLst/>
            <a:ahLst/>
            <a:cxnLst/>
            <a:rect r="r" b="b" t="t" l="l"/>
            <a:pathLst>
              <a:path h="5597880" w="10523679">
                <a:moveTo>
                  <a:pt x="0" y="0"/>
                </a:moveTo>
                <a:lnTo>
                  <a:pt x="10523679" y="0"/>
                </a:lnTo>
                <a:lnTo>
                  <a:pt x="10523679" y="5597880"/>
                </a:lnTo>
                <a:lnTo>
                  <a:pt x="0" y="5597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45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1792" y="1136240"/>
            <a:ext cx="6053328" cy="178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8"/>
              </a:lnSpc>
            </a:pPr>
            <a:r>
              <a:rPr lang="en-US" sz="634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Demo &amp; Representative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1792" y="4147015"/>
            <a:ext cx="5102352" cy="84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271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 prototype demo using test data to show </a:t>
            </a:r>
            <a:r>
              <a:rPr lang="en-US" sz="2271" b="true">
                <a:solidFill>
                  <a:srgbClr val="41B6A0"/>
                </a:solidFill>
                <a:latin typeface="Inter Medium"/>
                <a:ea typeface="Inter Medium"/>
                <a:cs typeface="Inter Medium"/>
                <a:sym typeface="Inter Medium"/>
              </a:rPr>
              <a:t>how the app works</a:t>
            </a:r>
            <a:r>
              <a:rPr lang="en-US" sz="2271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1792" y="3172042"/>
            <a:ext cx="2944368" cy="83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6312" b="true">
                <a:solidFill>
                  <a:srgbClr val="41B6A0"/>
                </a:solidFill>
                <a:latin typeface="Inter Bold"/>
                <a:ea typeface="Inter Bold"/>
                <a:cs typeface="Inter Bold"/>
                <a:sym typeface="Inter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1792" y="5902851"/>
            <a:ext cx="5522976" cy="233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163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Quiz performances with score breakdown</a:t>
            </a:r>
          </a:p>
          <a:p>
            <a:pPr algn="l">
              <a:lnSpc>
                <a:spcPts val="4759"/>
              </a:lnSpc>
            </a:pPr>
            <a:r>
              <a:rPr lang="en-US" sz="2163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Weak topics identified with focus areas</a:t>
            </a:r>
          </a:p>
          <a:p>
            <a:pPr algn="l">
              <a:lnSpc>
                <a:spcPts val="4759"/>
              </a:lnSpc>
            </a:pPr>
            <a:r>
              <a:rPr lang="en-US" sz="2163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Personalized resource recommendations</a:t>
            </a:r>
          </a:p>
          <a:p>
            <a:pPr algn="l">
              <a:lnSpc>
                <a:spcPts val="4759"/>
              </a:lnSpc>
            </a:pPr>
            <a:r>
              <a:rPr lang="en-US" sz="2163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Learner progress report snapshot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46017" y="6212552"/>
            <a:ext cx="43903" cy="2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"/>
              </a:lnSpc>
            </a:pPr>
            <a:r>
              <a:rPr lang="en-US" sz="100" b="true">
                <a:solidFill>
                  <a:srgbClr val="41B6A0"/>
                </a:solidFill>
                <a:latin typeface="Inter Bold"/>
                <a:ea typeface="Inter Bold"/>
                <a:cs typeface="Inter Bold"/>
                <a:sym typeface="Inter Bold"/>
              </a:rPr>
              <a:t>45%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0925" y="1924050"/>
            <a:ext cx="9582150" cy="6438900"/>
          </a:xfrm>
          <a:custGeom>
            <a:avLst/>
            <a:gdLst/>
            <a:ahLst/>
            <a:cxnLst/>
            <a:rect r="r" b="b" t="t" l="l"/>
            <a:pathLst>
              <a:path h="6438900" w="9582150">
                <a:moveTo>
                  <a:pt x="0" y="0"/>
                </a:moveTo>
                <a:lnTo>
                  <a:pt x="9582150" y="0"/>
                </a:lnTo>
                <a:lnTo>
                  <a:pt x="958215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4925" y="4714875"/>
            <a:ext cx="1743075" cy="3219450"/>
          </a:xfrm>
          <a:custGeom>
            <a:avLst/>
            <a:gdLst/>
            <a:ahLst/>
            <a:cxnLst/>
            <a:rect r="r" b="b" t="t" l="l"/>
            <a:pathLst>
              <a:path h="3219450" w="1743075">
                <a:moveTo>
                  <a:pt x="0" y="0"/>
                </a:moveTo>
                <a:lnTo>
                  <a:pt x="1743075" y="0"/>
                </a:lnTo>
                <a:lnTo>
                  <a:pt x="17430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0625" y="7496175"/>
            <a:ext cx="5667375" cy="2790825"/>
          </a:xfrm>
          <a:custGeom>
            <a:avLst/>
            <a:gdLst/>
            <a:ahLst/>
            <a:cxnLst/>
            <a:rect r="r" b="b" t="t" l="l"/>
            <a:pathLst>
              <a:path h="2790825" w="5667375">
                <a:moveTo>
                  <a:pt x="0" y="0"/>
                </a:moveTo>
                <a:lnTo>
                  <a:pt x="5667375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44625" y="8143875"/>
            <a:ext cx="3276600" cy="1714500"/>
          </a:xfrm>
          <a:custGeom>
            <a:avLst/>
            <a:gdLst/>
            <a:ahLst/>
            <a:cxnLst/>
            <a:rect r="r" b="b" t="t" l="l"/>
            <a:pathLst>
              <a:path h="1714500" w="3276600">
                <a:moveTo>
                  <a:pt x="0" y="0"/>
                </a:moveTo>
                <a:lnTo>
                  <a:pt x="3276600" y="0"/>
                </a:lnTo>
                <a:lnTo>
                  <a:pt x="3276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2" y="950889"/>
            <a:ext cx="6473952" cy="172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6"/>
              </a:lnSpc>
            </a:pPr>
            <a:r>
              <a:rPr lang="en-US" sz="12966" spc="-25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Sources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2633281"/>
            <a:ext cx="72237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5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Tools and platforms that supported this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3582734"/>
            <a:ext cx="334670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3060" b="true">
                <a:solidFill>
                  <a:srgbClr val="00A8A8"/>
                </a:solidFill>
                <a:latin typeface="Inter Bold"/>
                <a:ea typeface="Inter Bold"/>
                <a:cs typeface="Inter Bold"/>
                <a:sym typeface="Inter Bold"/>
              </a:rPr>
              <a:t>Internet research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4139565"/>
            <a:ext cx="45902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Exploring different sources online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714875"/>
            <a:ext cx="6972300" cy="219075"/>
          </a:xfrm>
          <a:custGeom>
            <a:avLst/>
            <a:gdLst/>
            <a:ahLst/>
            <a:cxnLst/>
            <a:rect r="r" b="b" t="t" l="l"/>
            <a:pathLst>
              <a:path h="219075" w="6972300">
                <a:moveTo>
                  <a:pt x="0" y="0"/>
                </a:moveTo>
                <a:lnTo>
                  <a:pt x="6972300" y="0"/>
                </a:lnTo>
                <a:lnTo>
                  <a:pt x="6972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8096" y="5162169"/>
            <a:ext cx="17373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081" b="true">
                <a:solidFill>
                  <a:srgbClr val="00A8A8"/>
                </a:solidFill>
                <a:latin typeface="Inter Bold"/>
                <a:ea typeface="Inter Bold"/>
                <a:cs typeface="Inter Bold"/>
                <a:sym typeface="Inter Bold"/>
              </a:rPr>
              <a:t>ChatGPT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096" y="5738051"/>
            <a:ext cx="67482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22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Breaking down problems and generating solutions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7700" y="6429375"/>
            <a:ext cx="6762750" cy="219075"/>
          </a:xfrm>
          <a:custGeom>
            <a:avLst/>
            <a:gdLst/>
            <a:ahLst/>
            <a:cxnLst/>
            <a:rect r="r" b="b" t="t" l="l"/>
            <a:pathLst>
              <a:path h="219075" w="6762750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8096" y="6818376"/>
            <a:ext cx="3163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3101" b="true">
                <a:solidFill>
                  <a:srgbClr val="8059C2"/>
                </a:solidFill>
                <a:latin typeface="Inter Bold"/>
                <a:ea typeface="Inter Bold"/>
                <a:cs typeface="Inter Bold"/>
                <a:sym typeface="Inter Bold"/>
              </a:rPr>
              <a:t>Gemini &amp; Claude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8096" y="7394257"/>
            <a:ext cx="565099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Verifying, improving, and refining the code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7700" y="7924800"/>
            <a:ext cx="6762750" cy="219075"/>
          </a:xfrm>
          <a:custGeom>
            <a:avLst/>
            <a:gdLst/>
            <a:ahLst/>
            <a:cxnLst/>
            <a:rect r="r" b="b" t="t" l="l"/>
            <a:pathLst>
              <a:path h="219075" w="6762750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68096" y="8417624"/>
            <a:ext cx="12070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true">
                <a:solidFill>
                  <a:srgbClr val="00A8A8"/>
                </a:solidFill>
                <a:latin typeface="Inter Bold"/>
                <a:ea typeface="Inter Bold"/>
                <a:cs typeface="Inter Bold"/>
                <a:sym typeface="Inter Bold"/>
              </a:rPr>
              <a:t>Canva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8096" y="8988743"/>
            <a:ext cx="643737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22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Designing visuals and creating this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DAHVR3wS71E</dc:identifier>
  <dcterms:modified xsi:type="dcterms:W3CDTF">2011-08-01T06:04:30Z</dcterms:modified>
  <cp:revision>1</cp:revision>
  <dc:title>Python-powered platform for Classes 1–10</dc:title>
</cp:coreProperties>
</file>